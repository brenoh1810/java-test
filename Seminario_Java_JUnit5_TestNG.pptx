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59" r:id="rId4"/>
    <p:sldId id="260" r:id="rId5"/>
    <p:sldId id="258" r:id="rId6"/>
    <p:sldId id="25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4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5960964A-3812-4907-8914-82F28BA9E44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PRÁTICA 01 / SEMINÁRIO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D1B1ABE-7C5C-4DFA-9E48-E1C4F6D01EDD}"/>
              </a:ext>
            </a:extLst>
          </p:cNvPr>
          <p:cNvSpPr>
            <a:spLocks noGrp="1"/>
          </p:cNvSpPr>
          <p:nvPr/>
        </p:nvSpPr>
        <p:spPr>
          <a:xfrm>
            <a:off x="514350" y="1914525"/>
            <a:ext cx="11163300" cy="2000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6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Testes unitários</a:t>
            </a:r>
          </a:p>
          <a:p>
            <a:pPr>
              <a:defRPr sz="6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em Java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C7CD2A2-C978-4F00-B29B-AE583F189E19}"/>
              </a:ext>
            </a:extLst>
          </p:cNvPr>
          <p:cNvSpPr>
            <a:spLocks noGrp="1"/>
          </p:cNvSpPr>
          <p:nvPr/>
        </p:nvSpPr>
        <p:spPr>
          <a:xfrm>
            <a:off x="514350" y="4362450"/>
            <a:ext cx="111633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300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 e TestNG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A54AA8F-D3D3-432B-BBBC-352C8C8DFEA2}"/>
              </a:ext>
            </a:extLst>
          </p:cNvPr>
          <p:cNvSpPr>
            <a:spLocks noGrp="1"/>
          </p:cNvSpPr>
          <p:nvPr/>
        </p:nvSpPr>
        <p:spPr>
          <a:xfrm>
            <a:off x="514350" y="5229225"/>
            <a:ext cx="111633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A </a:t>
            </a:r>
            <a:r>
              <a:rPr sz="2100" b="0" dirty="0" err="1">
                <a:solidFill>
                  <a:srgbClr val="565C63"/>
                </a:solidFill>
                <a:latin typeface="Arial"/>
                <a:ea typeface="Arial"/>
                <a:cs typeface="Arial"/>
              </a:rPr>
              <a:t>mesma</a:t>
            </a:r>
            <a:r>
              <a:rPr sz="2100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565C63"/>
                </a:solidFill>
                <a:latin typeface="Arial"/>
                <a:ea typeface="Arial"/>
                <a:cs typeface="Arial"/>
              </a:rPr>
              <a:t>regra</a:t>
            </a:r>
            <a:r>
              <a:rPr sz="2100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, duas </a:t>
            </a:r>
            <a:r>
              <a:rPr sz="2100" b="0" dirty="0" err="1">
                <a:solidFill>
                  <a:srgbClr val="565C63"/>
                </a:solidFill>
                <a:latin typeface="Arial"/>
                <a:ea typeface="Arial"/>
                <a:cs typeface="Arial"/>
              </a:rPr>
              <a:t>formas</a:t>
            </a:r>
            <a:r>
              <a:rPr sz="2100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 de </a:t>
            </a:r>
            <a:r>
              <a:rPr sz="2100" b="0" dirty="0" err="1">
                <a:solidFill>
                  <a:srgbClr val="565C63"/>
                </a:solidFill>
                <a:latin typeface="Arial"/>
                <a:ea typeface="Arial"/>
                <a:cs typeface="Arial"/>
              </a:rPr>
              <a:t>testar</a:t>
            </a:r>
            <a:r>
              <a:rPr sz="2100" b="0" dirty="0">
                <a:solidFill>
                  <a:srgbClr val="565C6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52B2FF-2B7E-C5C3-0EB1-6FF0777944F1}"/>
              </a:ext>
            </a:extLst>
          </p:cNvPr>
          <p:cNvSpPr txBox="1"/>
          <p:nvPr/>
        </p:nvSpPr>
        <p:spPr>
          <a:xfrm>
            <a:off x="7607808" y="5657671"/>
            <a:ext cx="4584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Gabriel de Souza Ribeiro - 32514596</a:t>
            </a:r>
          </a:p>
          <a:p>
            <a:r>
              <a:rPr lang="pt-BR" dirty="0"/>
              <a:t>Bento Ramalho Botelho - 325119554</a:t>
            </a:r>
          </a:p>
          <a:p>
            <a:r>
              <a:rPr lang="es-ES" dirty="0"/>
              <a:t>Carlos Gabriel Claudino de Souza – 325131028</a:t>
            </a:r>
          </a:p>
          <a:p>
            <a:r>
              <a:rPr lang="pt-BR" dirty="0"/>
              <a:t>Breno Henrique Barbosa Correia -32517400</a:t>
            </a:r>
          </a:p>
        </p:txBody>
      </p:sp>
    </p:spTree>
    <p:extLst>
      <p:ext uri="{BB962C8B-B14F-4D97-AF65-F5344CB8AC3E}">
        <p14:creationId xmlns:p14="http://schemas.microsoft.com/office/powerpoint/2010/main" val="116053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98E1052-9736-47C1-8FBA-C52BD51171A1}"/>
              </a:ext>
            </a:extLst>
          </p:cNvPr>
          <p:cNvSpPr>
            <a:spLocks noGrp="1"/>
          </p:cNvSpPr>
          <p:nvPr/>
        </p:nvSpPr>
        <p:spPr>
          <a:xfrm>
            <a:off x="518160" y="259080"/>
            <a:ext cx="3962400" cy="320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5D63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36B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B72E4FF-5FC1-4E3C-BBCC-83451425AFB2}"/>
              </a:ext>
            </a:extLst>
          </p:cNvPr>
          <p:cNvSpPr>
            <a:spLocks noGrp="1"/>
          </p:cNvSpPr>
          <p:nvPr/>
        </p:nvSpPr>
        <p:spPr>
          <a:xfrm>
            <a:off x="518160" y="822960"/>
            <a:ext cx="8382000" cy="640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405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24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O que é um teste unitário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B1C82F-0281-48F6-93AC-9215E2ACA084}"/>
              </a:ext>
            </a:extLst>
          </p:cNvPr>
          <p:cNvSpPr>
            <a:spLocks noGrp="1"/>
          </p:cNvSpPr>
          <p:nvPr/>
        </p:nvSpPr>
        <p:spPr>
          <a:xfrm>
            <a:off x="518160" y="1661160"/>
            <a:ext cx="10896600" cy="731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0">
                <a:solidFill>
                  <a:srgbClr val="22262A"/>
                </a:solidFill>
                <a:latin typeface="Arial"/>
                <a:ea typeface="Arial"/>
                <a:cs typeface="Arial"/>
              </a:defRPr>
            </a:pPr>
            <a:r>
              <a:rPr sz="1860">
                <a:solidFill>
                  <a:srgbClr val="22262A"/>
                </a:solidFill>
                <a:latin typeface="Arial"/>
                <a:ea typeface="Arial"/>
                <a:cs typeface="Arial"/>
              </a:rPr>
              <a:t>É uma verificação automática de uma pequena parte do programa, como um método ou uma classe, executada de forma isolada.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66136D-8961-4911-91B8-1894B33EE6B3}"/>
              </a:ext>
            </a:extLst>
          </p:cNvPr>
          <p:cNvSpPr>
            <a:spLocks noGrp="1"/>
          </p:cNvSpPr>
          <p:nvPr/>
        </p:nvSpPr>
        <p:spPr>
          <a:xfrm>
            <a:off x="518160" y="2712720"/>
            <a:ext cx="2438400" cy="289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COMO FUNCIONA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E4AA94-D51C-413C-A035-5F7D4CCA0B75}"/>
              </a:ext>
            </a:extLst>
          </p:cNvPr>
          <p:cNvSpPr>
            <a:spLocks noGrp="1"/>
          </p:cNvSpPr>
          <p:nvPr/>
        </p:nvSpPr>
        <p:spPr>
          <a:xfrm>
            <a:off x="518160" y="3139440"/>
            <a:ext cx="441960" cy="441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8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E783C7A-12F8-4930-A82F-78AE6732F05C}"/>
              </a:ext>
            </a:extLst>
          </p:cNvPr>
          <p:cNvSpPr>
            <a:spLocks noGrp="1"/>
          </p:cNvSpPr>
          <p:nvPr/>
        </p:nvSpPr>
        <p:spPr>
          <a:xfrm>
            <a:off x="1082040" y="3116580"/>
            <a:ext cx="2819400" cy="51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 lnSpcReduction="10000"/>
          </a:bodyPr>
          <a:lstStyle/>
          <a:p>
            <a:pPr algn="l">
              <a:defRPr sz="187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Preparamos uma entrada conhecida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F6DBFC7-03D9-403E-8CAC-9A975535F9AC}"/>
              </a:ext>
            </a:extLst>
          </p:cNvPr>
          <p:cNvSpPr>
            <a:spLocks noGrp="1"/>
          </p:cNvSpPr>
          <p:nvPr/>
        </p:nvSpPr>
        <p:spPr>
          <a:xfrm>
            <a:off x="1082040" y="3634740"/>
            <a:ext cx="2895600" cy="472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575" b="0">
                <a:solidFill>
                  <a:srgbClr val="5D636B"/>
                </a:solidFill>
                <a:latin typeface="Arial"/>
                <a:ea typeface="Arial"/>
                <a:cs typeface="Arial"/>
              </a:defRPr>
            </a:pPr>
            <a:r>
              <a:rPr sz="1260">
                <a:solidFill>
                  <a:srgbClr val="5D636B"/>
                </a:solidFill>
                <a:latin typeface="Arial"/>
                <a:ea typeface="Arial"/>
                <a:cs typeface="Arial"/>
              </a:rPr>
              <a:t>Exemplo: valor da compra igual a R$ 200.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94AA96-E031-4375-9C04-461F6896529C}"/>
              </a:ext>
            </a:extLst>
          </p:cNvPr>
          <p:cNvSpPr>
            <a:spLocks noGrp="1"/>
          </p:cNvSpPr>
          <p:nvPr/>
        </p:nvSpPr>
        <p:spPr>
          <a:xfrm>
            <a:off x="4305300" y="3139440"/>
            <a:ext cx="441960" cy="441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8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2298B75-4F2B-4B0A-8CB9-92207E74A9EA}"/>
              </a:ext>
            </a:extLst>
          </p:cNvPr>
          <p:cNvSpPr>
            <a:spLocks noGrp="1"/>
          </p:cNvSpPr>
          <p:nvPr/>
        </p:nvSpPr>
        <p:spPr>
          <a:xfrm>
            <a:off x="4869180" y="3116580"/>
            <a:ext cx="3086100" cy="51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 lnSpcReduction="10000"/>
          </a:bodyPr>
          <a:lstStyle/>
          <a:p>
            <a:pPr algn="l">
              <a:defRPr sz="187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Executamos somente a unidade testada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5BD593-B913-452F-B04D-6765D9469BC2}"/>
              </a:ext>
            </a:extLst>
          </p:cNvPr>
          <p:cNvSpPr>
            <a:spLocks noGrp="1"/>
          </p:cNvSpPr>
          <p:nvPr/>
        </p:nvSpPr>
        <p:spPr>
          <a:xfrm>
            <a:off x="4869180" y="3634740"/>
            <a:ext cx="3124200" cy="472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575" b="0">
                <a:solidFill>
                  <a:srgbClr val="5D636B"/>
                </a:solidFill>
                <a:latin typeface="Arial"/>
                <a:ea typeface="Arial"/>
                <a:cs typeface="Arial"/>
              </a:defRPr>
            </a:pPr>
            <a:r>
              <a:rPr sz="1260">
                <a:solidFill>
                  <a:srgbClr val="5D636B"/>
                </a:solidFill>
                <a:latin typeface="Arial"/>
                <a:ea typeface="Arial"/>
                <a:cs typeface="Arial"/>
              </a:rPr>
              <a:t>O teste chama o método calcular da classe Frete.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EA1454-1B1A-40A1-A9C0-D36989220D43}"/>
              </a:ext>
            </a:extLst>
          </p:cNvPr>
          <p:cNvSpPr>
            <a:spLocks noGrp="1"/>
          </p:cNvSpPr>
          <p:nvPr/>
        </p:nvSpPr>
        <p:spPr>
          <a:xfrm>
            <a:off x="8321040" y="3139440"/>
            <a:ext cx="441960" cy="441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8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7879A66-E2F0-4ADD-AFC9-20FDCDBD56AB}"/>
              </a:ext>
            </a:extLst>
          </p:cNvPr>
          <p:cNvSpPr>
            <a:spLocks noGrp="1"/>
          </p:cNvSpPr>
          <p:nvPr/>
        </p:nvSpPr>
        <p:spPr>
          <a:xfrm>
            <a:off x="8884920" y="3116580"/>
            <a:ext cx="2819400" cy="518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33" lnSpcReduction="10000"/>
          </a:bodyPr>
          <a:lstStyle/>
          <a:p>
            <a:pPr algn="l">
              <a:defRPr sz="187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Comparamos o resultado com o esperado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CCFC4CC-796F-46E7-BB12-F218AC0503DA}"/>
              </a:ext>
            </a:extLst>
          </p:cNvPr>
          <p:cNvSpPr>
            <a:spLocks noGrp="1"/>
          </p:cNvSpPr>
          <p:nvPr/>
        </p:nvSpPr>
        <p:spPr>
          <a:xfrm>
            <a:off x="8884920" y="3634740"/>
            <a:ext cx="2819400" cy="472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575" b="0">
                <a:solidFill>
                  <a:srgbClr val="5D636B"/>
                </a:solidFill>
                <a:latin typeface="Arial"/>
                <a:ea typeface="Arial"/>
                <a:cs typeface="Arial"/>
              </a:defRPr>
            </a:pPr>
            <a:r>
              <a:rPr sz="1260">
                <a:solidFill>
                  <a:srgbClr val="5D636B"/>
                </a:solidFill>
                <a:latin typeface="Arial"/>
                <a:ea typeface="Arial"/>
                <a:cs typeface="Arial"/>
              </a:rPr>
              <a:t>Para R$ 200, o frete esperado é R$ 0.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2F9EE68-6A1D-44B0-9568-2DD5F88EBE2C}"/>
              </a:ext>
            </a:extLst>
          </p:cNvPr>
          <p:cNvSpPr>
            <a:spLocks noGrp="1"/>
          </p:cNvSpPr>
          <p:nvPr/>
        </p:nvSpPr>
        <p:spPr>
          <a:xfrm>
            <a:off x="518160" y="4617720"/>
            <a:ext cx="11155680" cy="655320"/>
          </a:xfrm>
          <a:prstGeom prst="rect">
            <a:avLst/>
          </a:prstGeom>
          <a:solidFill>
            <a:srgbClr val="EEF5FA"/>
          </a:solidFill>
          <a:ln w="9525">
            <a:solidFill>
              <a:srgbClr val="D7E8F5"/>
            </a:solidFill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2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Se o resultado for diferente, o teste falha e indica que a regra pode ter sido quebrada.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C1E53ED-3AD5-45B4-8B0D-29B90B1890ED}"/>
              </a:ext>
            </a:extLst>
          </p:cNvPr>
          <p:cNvSpPr>
            <a:spLocks noGrp="1"/>
          </p:cNvSpPr>
          <p:nvPr/>
        </p:nvSpPr>
        <p:spPr>
          <a:xfrm>
            <a:off x="518160" y="5471160"/>
            <a:ext cx="1036320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22262A"/>
                </a:solidFill>
                <a:latin typeface="Arial"/>
                <a:ea typeface="Arial"/>
                <a:cs typeface="Arial"/>
              </a:defRPr>
            </a:pPr>
            <a:r>
              <a:rPr sz="1380">
                <a:solidFill>
                  <a:srgbClr val="22262A"/>
                </a:solidFill>
                <a:latin typeface="Arial"/>
                <a:ea typeface="Arial"/>
                <a:cs typeface="Arial"/>
              </a:rPr>
              <a:t>Um teste unitário deve ser rápido e independente de banco de dados ou rede.</a:t>
            </a:r>
          </a:p>
        </p:txBody>
      </p:sp>
    </p:spTree>
    <p:extLst>
      <p:ext uri="{BB962C8B-B14F-4D97-AF65-F5344CB8AC3E}">
        <p14:creationId xmlns:p14="http://schemas.microsoft.com/office/powerpoint/2010/main" val="1092330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92D2A8C4-77E8-4FF6-AE99-69D14B44CBBA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9B55346-331C-4959-A30D-426765310C5A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Duas bibliotecas, a mesma responsabilidade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E1035A1-6B77-402E-BCF5-5A4978EAB805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DCEE01B-6F91-4531-96F2-A52D501696E4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92AECF4-D66E-4D22-9964-E818E5E4DB3C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Jupiter fornece a API usada para escrever os testes.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FF6945F-BF74-48B3-BB68-71E166625B3B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 Platform descobre e executa os testes por meio de engines.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B7EF562-BE75-4914-8475-1E90C35C6632}"/>
              </a:ext>
            </a:extLst>
          </p:cNvPr>
          <p:cNvSpPr>
            <a:spLocks noGrp="1"/>
          </p:cNvSpPr>
          <p:nvPr/>
        </p:nvSpPr>
        <p:spPr>
          <a:xfrm>
            <a:off x="5143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Vintage atende testes legados de JUnit 3 e 4.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1CE7306-C474-44BE-95F8-3DD205132D89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Anotações definem testes e preparação do ambiente.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EF70C87C-8D55-49D2-A190-6A556B6BF1F3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Grupos e suítes organizam conjuntos de testes.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9DBBF1D9-DE55-4B96-BD5A-350A75B812AE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Data providers separam os dados da lógica do teste.</a:t>
            </a:r>
          </a:p>
        </p:txBody>
      </p:sp>
    </p:spTree>
    <p:extLst>
      <p:ext uri="{BB962C8B-B14F-4D97-AF65-F5344CB8AC3E}">
        <p14:creationId xmlns:p14="http://schemas.microsoft.com/office/powerpoint/2010/main" val="178770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8F5B9F32-048D-4D8A-8B60-8FFA1554A8D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706E828-3974-45AD-B13A-BB52B93B7E99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Preparação do projeto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4E6EAFD-3BFB-4741-820C-F1732A1A38FB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11163300" cy="53340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ED59597-EB7A-4D51-BF6E-F6306E545A58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A088A34-5ACC-4601-B950-26BFCF83218C}"/>
              </a:ext>
            </a:extLst>
          </p:cNvPr>
          <p:cNvSpPr>
            <a:spLocks noGrp="1"/>
          </p:cNvSpPr>
          <p:nvPr/>
        </p:nvSpPr>
        <p:spPr>
          <a:xfrm>
            <a:off x="3790950" y="21717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6C386242-415A-44E6-9A0A-1629B0069842}"/>
              </a:ext>
            </a:extLst>
          </p:cNvPr>
          <p:cNvSpPr>
            <a:spLocks noGrp="1"/>
          </p:cNvSpPr>
          <p:nvPr/>
        </p:nvSpPr>
        <p:spPr>
          <a:xfrm>
            <a:off x="7800975" y="21717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82D1EB-62D6-4D43-A85D-E2877EACCA2F}"/>
              </a:ext>
            </a:extLst>
          </p:cNvPr>
          <p:cNvSpPr>
            <a:spLocks noGrp="1"/>
          </p:cNvSpPr>
          <p:nvPr/>
        </p:nvSpPr>
        <p:spPr>
          <a:xfrm>
            <a:off x="514350" y="3524250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971D309-0C47-4D7B-AA00-E9DDA66C3D98}"/>
              </a:ext>
            </a:extLst>
          </p:cNvPr>
          <p:cNvSpPr>
            <a:spLocks noGrp="1"/>
          </p:cNvSpPr>
          <p:nvPr/>
        </p:nvSpPr>
        <p:spPr>
          <a:xfrm>
            <a:off x="647700" y="2752725"/>
            <a:ext cx="28765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Dependência de teste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8AA3FD8-6A53-4115-9ADE-A6CB6039250C}"/>
              </a:ext>
            </a:extLst>
          </p:cNvPr>
          <p:cNvSpPr>
            <a:spLocks noGrp="1"/>
          </p:cNvSpPr>
          <p:nvPr/>
        </p:nvSpPr>
        <p:spPr>
          <a:xfrm>
            <a:off x="3790950" y="2752725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org.junit.jupiter:</a:t>
            </a:r>
          </a:p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junit-jupiter:5.13.4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92CE941-82EB-44E0-877D-82655509E5A3}"/>
              </a:ext>
            </a:extLst>
          </p:cNvPr>
          <p:cNvSpPr>
            <a:spLocks noGrp="1"/>
          </p:cNvSpPr>
          <p:nvPr/>
        </p:nvSpPr>
        <p:spPr>
          <a:xfrm>
            <a:off x="7800975" y="2752725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org.testng:</a:t>
            </a:r>
          </a:p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testng:7.11.0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6C8E763-4693-4A19-925A-926AC26269A7}"/>
              </a:ext>
            </a:extLst>
          </p:cNvPr>
          <p:cNvSpPr>
            <a:spLocks noGrp="1"/>
          </p:cNvSpPr>
          <p:nvPr/>
        </p:nvSpPr>
        <p:spPr>
          <a:xfrm>
            <a:off x="514350" y="446722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D1B796DE-4825-4D91-8575-A138CAFA5DAA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28765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Classe de produção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DB7E2092-062D-497B-9AC2-07855C489C71}"/>
              </a:ext>
            </a:extLst>
          </p:cNvPr>
          <p:cNvSpPr>
            <a:spLocks noGrp="1"/>
          </p:cNvSpPr>
          <p:nvPr/>
        </p:nvSpPr>
        <p:spPr>
          <a:xfrm>
            <a:off x="3790950" y="3695700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src/main/java/Frete.java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C8B7549-A38A-4916-9B33-D9CCF51EADF6}"/>
              </a:ext>
            </a:extLst>
          </p:cNvPr>
          <p:cNvSpPr>
            <a:spLocks noGrp="1"/>
          </p:cNvSpPr>
          <p:nvPr/>
        </p:nvSpPr>
        <p:spPr>
          <a:xfrm>
            <a:off x="7800975" y="3695700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src/main/java/Frete.java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C5DB4A5-1414-4970-89F3-F5140E16D68A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EB651C0-E2A6-4D68-838A-2D1986E1EA23}"/>
              </a:ext>
            </a:extLst>
          </p:cNvPr>
          <p:cNvSpPr>
            <a:spLocks noGrp="1"/>
          </p:cNvSpPr>
          <p:nvPr/>
        </p:nvSpPr>
        <p:spPr>
          <a:xfrm>
            <a:off x="647700" y="4638675"/>
            <a:ext cx="28765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Classe de teste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C45A253D-FCB8-4F2D-ADA5-406C5511D605}"/>
              </a:ext>
            </a:extLst>
          </p:cNvPr>
          <p:cNvSpPr>
            <a:spLocks noGrp="1"/>
          </p:cNvSpPr>
          <p:nvPr/>
        </p:nvSpPr>
        <p:spPr>
          <a:xfrm>
            <a:off x="3790950" y="4638675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src/test/java/</a:t>
            </a:r>
          </a:p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FreteJUnitTest.java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BA244212-C01E-45B6-A23E-1F5945B38FCA}"/>
              </a:ext>
            </a:extLst>
          </p:cNvPr>
          <p:cNvSpPr>
            <a:spLocks noGrp="1"/>
          </p:cNvSpPr>
          <p:nvPr/>
        </p:nvSpPr>
        <p:spPr>
          <a:xfrm>
            <a:off x="7800975" y="4638675"/>
            <a:ext cx="37433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src/test/java/</a:t>
            </a:r>
          </a:p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FreteTestNGTest.java</a:t>
            </a:r>
          </a:p>
        </p:txBody>
      </p:sp>
    </p:spTree>
    <p:extLst>
      <p:ext uri="{BB962C8B-B14F-4D97-AF65-F5344CB8AC3E}">
        <p14:creationId xmlns:p14="http://schemas.microsoft.com/office/powerpoint/2010/main" val="91130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FFF3B999-33E0-420F-B003-E4BC2D39F29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0085065-CE33-46EA-8FC9-D76938229B51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A classe que será testada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AFB508E-F8B1-441E-A66B-2911EDAE4DD3}"/>
              </a:ext>
            </a:extLst>
          </p:cNvPr>
          <p:cNvSpPr>
            <a:spLocks noGrp="1"/>
          </p:cNvSpPr>
          <p:nvPr/>
        </p:nvSpPr>
        <p:spPr>
          <a:xfrm>
            <a:off x="514350" y="2105025"/>
            <a:ext cx="11163300" cy="3114675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6B21A12-473E-4314-8B77-FCEFB69D4CB9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public class Frete {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16547D1-B9BB-48B9-9DB8-9CFC0E1523BE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public int calcular(int valorCompra) {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CE48913-64C9-47BC-B683-FB42751A51A4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if (valorCompra &lt; 0) {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98256D0-9EDC-4D2A-A083-782527AB3FE6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    throw new IllegalArgumentException("Valor invalido");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DFAF42D-319B-40A4-8A34-2EDBFB8E2581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8ABA421-6E49-4E47-8129-CA8636FF0157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return valorCompra &gt;= 200 ? 0 : 20;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CFAE8EF9-9DA3-4DCC-9B3E-6A11640472EC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358409C-A341-4684-A9C1-D6A9FBF5D47A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D31EF138-7E4C-4D3D-AE48-6367E06EACA8}"/>
              </a:ext>
            </a:extLst>
          </p:cNvPr>
          <p:cNvSpPr>
            <a:spLocks noGrp="1"/>
          </p:cNvSpPr>
          <p:nvPr/>
        </p:nvSpPr>
        <p:spPr>
          <a:xfrm>
            <a:off x="514350" y="5724525"/>
            <a:ext cx="11163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Entrada negativa é inválida. Nos demais casos, o frete custa R$ 20 ou R$ 0.</a:t>
            </a:r>
          </a:p>
        </p:txBody>
      </p:sp>
    </p:spTree>
    <p:extLst>
      <p:ext uri="{BB962C8B-B14F-4D97-AF65-F5344CB8AC3E}">
        <p14:creationId xmlns:p14="http://schemas.microsoft.com/office/powerpoint/2010/main" val="7749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0">
            <a:extLst>
              <a:ext uri="{FF2B5EF4-FFF2-40B4-BE49-F238E27FC236}">
                <a16:creationId xmlns:a16="http://schemas.microsoft.com/office/drawing/2014/main" id="{AFCE9752-1D0B-4DC6-A4AB-6B6B132B246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5D1D189-46A2-4D89-A975-86DE8F5F42A5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O erro pode estar no valor exato do limite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8F7D055-A2A7-49BA-8059-6CB6E3092E9C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63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Regra do exemplo: compras a partir de R$ 200 têm frete grátis.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2FF868-19DA-4DEA-A0A5-426DED432925}"/>
              </a:ext>
            </a:extLst>
          </p:cNvPr>
          <p:cNvSpPr>
            <a:spLocks noGrp="1"/>
          </p:cNvSpPr>
          <p:nvPr/>
        </p:nvSpPr>
        <p:spPr>
          <a:xfrm>
            <a:off x="514350" y="2705100"/>
            <a:ext cx="11163300" cy="53340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19ED876-2317-4FBC-BDAA-720E581E3E24}"/>
              </a:ext>
            </a:extLst>
          </p:cNvPr>
          <p:cNvSpPr>
            <a:spLocks noGrp="1"/>
          </p:cNvSpPr>
          <p:nvPr/>
        </p:nvSpPr>
        <p:spPr>
          <a:xfrm>
            <a:off x="647700" y="281940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Valor da compra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3963518-FBBF-4161-8A27-C93B77209A0E}"/>
              </a:ext>
            </a:extLst>
          </p:cNvPr>
          <p:cNvSpPr>
            <a:spLocks noGrp="1"/>
          </p:cNvSpPr>
          <p:nvPr/>
        </p:nvSpPr>
        <p:spPr>
          <a:xfrm>
            <a:off x="3790950" y="28194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Frete esperado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9BC2A42-6FD2-4899-8413-50E636C0F975}"/>
              </a:ext>
            </a:extLst>
          </p:cNvPr>
          <p:cNvSpPr>
            <a:spLocks noGrp="1"/>
          </p:cNvSpPr>
          <p:nvPr/>
        </p:nvSpPr>
        <p:spPr>
          <a:xfrm>
            <a:off x="7800975" y="28194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O que verificamos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4887DE0-1651-48D0-A13C-DBC66E2E35D0}"/>
              </a:ext>
            </a:extLst>
          </p:cNvPr>
          <p:cNvSpPr>
            <a:spLocks noGrp="1"/>
          </p:cNvSpPr>
          <p:nvPr/>
        </p:nvSpPr>
        <p:spPr>
          <a:xfrm>
            <a:off x="514350" y="39909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718988C-1521-43FD-B299-3C34AB735554}"/>
              </a:ext>
            </a:extLst>
          </p:cNvPr>
          <p:cNvSpPr>
            <a:spLocks noGrp="1"/>
          </p:cNvSpPr>
          <p:nvPr/>
        </p:nvSpPr>
        <p:spPr>
          <a:xfrm>
            <a:off x="647700" y="34004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R$ 199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EB01D215-B61C-4194-9153-437BFE3B0D21}"/>
              </a:ext>
            </a:extLst>
          </p:cNvPr>
          <p:cNvSpPr>
            <a:spLocks noGrp="1"/>
          </p:cNvSpPr>
          <p:nvPr/>
        </p:nvSpPr>
        <p:spPr>
          <a:xfrm>
            <a:off x="3790950" y="3400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R$ 20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0D618729-8AF5-4DDA-ADA9-BEF6E91207B0}"/>
              </a:ext>
            </a:extLst>
          </p:cNvPr>
          <p:cNvSpPr>
            <a:spLocks noGrp="1"/>
          </p:cNvSpPr>
          <p:nvPr/>
        </p:nvSpPr>
        <p:spPr>
          <a:xfrm>
            <a:off x="7800975" y="3400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Logo abaixo do limite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D4E40BB-FE47-40CA-8872-CBCF02B69912}"/>
              </a:ext>
            </a:extLst>
          </p:cNvPr>
          <p:cNvSpPr>
            <a:spLocks noGrp="1"/>
          </p:cNvSpPr>
          <p:nvPr/>
        </p:nvSpPr>
        <p:spPr>
          <a:xfrm>
            <a:off x="514350" y="47529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AA4D6239-0EBD-4AC0-B007-5634388CBD8C}"/>
              </a:ext>
            </a:extLst>
          </p:cNvPr>
          <p:cNvSpPr>
            <a:spLocks noGrp="1"/>
          </p:cNvSpPr>
          <p:nvPr/>
        </p:nvSpPr>
        <p:spPr>
          <a:xfrm>
            <a:off x="647700" y="41624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R$ 200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6DA1F4F-A372-4D5E-AEDD-024980D2C3AC}"/>
              </a:ext>
            </a:extLst>
          </p:cNvPr>
          <p:cNvSpPr>
            <a:spLocks noGrp="1"/>
          </p:cNvSpPr>
          <p:nvPr/>
        </p:nvSpPr>
        <p:spPr>
          <a:xfrm>
            <a:off x="3790950" y="4162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R$ 0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D6AF3DB-960A-45D1-8294-AF2EA6671622}"/>
              </a:ext>
            </a:extLst>
          </p:cNvPr>
          <p:cNvSpPr>
            <a:spLocks noGrp="1"/>
          </p:cNvSpPr>
          <p:nvPr/>
        </p:nvSpPr>
        <p:spPr>
          <a:xfrm>
            <a:off x="7800975" y="4162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Exatamente no limite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DD192F-724B-49F1-AD36-D6253B8BB391}"/>
              </a:ext>
            </a:extLst>
          </p:cNvPr>
          <p:cNvSpPr>
            <a:spLocks noGrp="1"/>
          </p:cNvSpPr>
          <p:nvPr/>
        </p:nvSpPr>
        <p:spPr>
          <a:xfrm>
            <a:off x="514350" y="55149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F3AF0C17-CFAE-45AE-84CD-25526B3D70E1}"/>
              </a:ext>
            </a:extLst>
          </p:cNvPr>
          <p:cNvSpPr>
            <a:spLocks noGrp="1"/>
          </p:cNvSpPr>
          <p:nvPr/>
        </p:nvSpPr>
        <p:spPr>
          <a:xfrm>
            <a:off x="647700" y="49244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R$ 201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19FAE90E-988E-4828-9435-8CAA6209B94F}"/>
              </a:ext>
            </a:extLst>
          </p:cNvPr>
          <p:cNvSpPr>
            <a:spLocks noGrp="1"/>
          </p:cNvSpPr>
          <p:nvPr/>
        </p:nvSpPr>
        <p:spPr>
          <a:xfrm>
            <a:off x="3790950" y="4924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R$ 0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CFDF8D4C-423D-4FEC-B417-6F48AEE3FDD7}"/>
              </a:ext>
            </a:extLst>
          </p:cNvPr>
          <p:cNvSpPr>
            <a:spLocks noGrp="1"/>
          </p:cNvSpPr>
          <p:nvPr/>
        </p:nvSpPr>
        <p:spPr>
          <a:xfrm>
            <a:off x="7800975" y="49244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Logo acima do limite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17395B9F-89A1-4F18-BD59-5A02D33CB405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111633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Um teste unitário verifica essa regra isoladamente, sem banco ou rede.</a:t>
            </a:r>
          </a:p>
        </p:txBody>
      </p:sp>
    </p:spTree>
    <p:extLst>
      <p:ext uri="{BB962C8B-B14F-4D97-AF65-F5344CB8AC3E}">
        <p14:creationId xmlns:p14="http://schemas.microsoft.com/office/powerpoint/2010/main" val="201449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0">
            <a:extLst>
              <a:ext uri="{FF2B5EF4-FFF2-40B4-BE49-F238E27FC236}">
                <a16:creationId xmlns:a16="http://schemas.microsoft.com/office/drawing/2014/main" id="{77C73050-4734-4995-BFF0-435E841EE61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7EF7DF8-6A40-4DBD-8EF5-1FAEC030064D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5: um primeiro teste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15E4B88-C8A8-469D-9E3B-B452B736CA43}"/>
              </a:ext>
            </a:extLst>
          </p:cNvPr>
          <p:cNvSpPr>
            <a:spLocks noGrp="1"/>
          </p:cNvSpPr>
          <p:nvPr/>
        </p:nvSpPr>
        <p:spPr>
          <a:xfrm>
            <a:off x="514350" y="1914525"/>
            <a:ext cx="11163300" cy="36385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A62797B-7167-4007-AAF8-33B00E156D00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import org.junit.jupiter.api.Test;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D82A0BC-D29C-4D02-A0C8-FA10C2641BE2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import static org.junit.jupiter.api.Assertions.assertEquals;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2CD12B2-7250-48E5-A01F-B36148B700CA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CFFDF03-0BCF-42D3-97AF-7E46324AC450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class FreteJUnitTest {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BC0763F-15A4-46CF-A9DD-DA0D0E3E8E72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@Test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462920D-EC8D-4759-93D1-52ECA46396B8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void freteGratisNoLimite() {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86087B3C-7DA9-457E-A252-23B7D8EC6487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Frete frete = new Frete();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0B9E6677-7257-418C-A032-F6C57720718A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int resultado = frete.calcular(200);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7099C611-A200-42E4-9DC3-B352189A4154}"/>
              </a:ext>
            </a:extLst>
          </p:cNvPr>
          <p:cNvSpPr>
            <a:spLocks noGrp="1"/>
          </p:cNvSpPr>
          <p:nvPr/>
        </p:nvSpPr>
        <p:spPr>
          <a:xfrm>
            <a:off x="723900" y="44672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assertEquals(0, resultado);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D8B81A9-C4D7-4FE9-BAFD-175E78E8928E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F5BF878-1E4C-49CB-BCA2-F9DEE2DAC477}"/>
              </a:ext>
            </a:extLst>
          </p:cNvPr>
          <p:cNvSpPr>
            <a:spLocks noGrp="1"/>
          </p:cNvSpPr>
          <p:nvPr/>
        </p:nvSpPr>
        <p:spPr>
          <a:xfrm>
            <a:off x="723900" y="50577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78F0C266-A10D-4F3E-A37E-E1EC6B64D4C2}"/>
              </a:ext>
            </a:extLst>
          </p:cNvPr>
          <p:cNvSpPr>
            <a:spLocks noGrp="1"/>
          </p:cNvSpPr>
          <p:nvPr/>
        </p:nvSpPr>
        <p:spPr>
          <a:xfrm>
            <a:off x="514350" y="5800725"/>
            <a:ext cx="11163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Preparar → executar → verificar. No JUnit, o esperado vem primeiro.</a:t>
            </a:r>
          </a:p>
        </p:txBody>
      </p:sp>
    </p:spTree>
    <p:extLst>
      <p:ext uri="{BB962C8B-B14F-4D97-AF65-F5344CB8AC3E}">
        <p14:creationId xmlns:p14="http://schemas.microsoft.com/office/powerpoint/2010/main" val="150957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0">
            <a:extLst>
              <a:ext uri="{FF2B5EF4-FFF2-40B4-BE49-F238E27FC236}">
                <a16:creationId xmlns:a16="http://schemas.microsoft.com/office/drawing/2014/main" id="{97E7FC95-3A60-44EA-AB46-254B8EEEBC8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65C8280-D805-4365-B9FB-9796F2A1BC07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TestNG: muda pouco, mas muda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98E9B4-4B59-49C6-A5BF-421DFA095D10}"/>
              </a:ext>
            </a:extLst>
          </p:cNvPr>
          <p:cNvSpPr>
            <a:spLocks noGrp="1"/>
          </p:cNvSpPr>
          <p:nvPr/>
        </p:nvSpPr>
        <p:spPr>
          <a:xfrm>
            <a:off x="514350" y="1914525"/>
            <a:ext cx="11163300" cy="36385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3B05235-3A7B-4EC7-8106-9E3E23916B86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import org.testng.annotations.Test;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A8194FAE-F119-401C-A304-6D6DCD9DE444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import static org.testng.Assert.assertEquals;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D54CB113-F416-4B79-84CC-416229948DA1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B47E7C3-8AD7-47D9-8176-165AFEFD6442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public class FreteTestNGTest {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82F3096-15AF-4B1F-8B93-C2110FC357EE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@Test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25C5D89-BF41-4B66-9325-78815EBBDAA8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public void freteGratisNoLimite() {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61CD836-9D81-4C99-B12B-23EFC1F2C860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Frete frete = new Frete();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107933F-6B89-428B-AED8-97FA0B05CE71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int resultado = frete.calcular(200);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21E2BD8-21B9-4E80-A27B-4239579F813A}"/>
              </a:ext>
            </a:extLst>
          </p:cNvPr>
          <p:cNvSpPr>
            <a:spLocks noGrp="1"/>
          </p:cNvSpPr>
          <p:nvPr/>
        </p:nvSpPr>
        <p:spPr>
          <a:xfrm>
            <a:off x="723900" y="44672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    assertEquals(resultado, 0);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DD7B401E-8C80-40D9-9BD3-5162437829FF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2B9F2FF-85E9-4DD9-83CF-936AD14DB95D}"/>
              </a:ext>
            </a:extLst>
          </p:cNvPr>
          <p:cNvSpPr>
            <a:spLocks noGrp="1"/>
          </p:cNvSpPr>
          <p:nvPr/>
        </p:nvSpPr>
        <p:spPr>
          <a:xfrm>
            <a:off x="723900" y="50577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A53B75A8-E3C5-4350-A3A1-803A7A758222}"/>
              </a:ext>
            </a:extLst>
          </p:cNvPr>
          <p:cNvSpPr>
            <a:spLocks noGrp="1"/>
          </p:cNvSpPr>
          <p:nvPr/>
        </p:nvSpPr>
        <p:spPr>
          <a:xfrm>
            <a:off x="514350" y="5800725"/>
            <a:ext cx="11163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No TestNG, o valor obtido vem primeiro. Atenção também ao import de @Test.</a:t>
            </a:r>
          </a:p>
        </p:txBody>
      </p:sp>
    </p:spTree>
    <p:extLst>
      <p:ext uri="{BB962C8B-B14F-4D97-AF65-F5344CB8AC3E}">
        <p14:creationId xmlns:p14="http://schemas.microsoft.com/office/powerpoint/2010/main" val="188687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8B5C658D-7D17-4491-A0B0-028FA86E436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6F5DECB-3516-4591-BF82-2212D8599357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O que muda na escrita dos testes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79E03A-B57D-49C4-941F-69B1FF2FA9B8}"/>
              </a:ext>
            </a:extLst>
          </p:cNvPr>
          <p:cNvSpPr>
            <a:spLocks noGrp="1"/>
          </p:cNvSpPr>
          <p:nvPr/>
        </p:nvSpPr>
        <p:spPr>
          <a:xfrm>
            <a:off x="514350" y="2114550"/>
            <a:ext cx="11163300" cy="53340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36AD773-452E-4975-9A2C-17F5C049E4E2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Tarefa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1B84629-4C81-4D7A-B106-53270CAFDF0F}"/>
              </a:ext>
            </a:extLst>
          </p:cNvPr>
          <p:cNvSpPr>
            <a:spLocks noGrp="1"/>
          </p:cNvSpPr>
          <p:nvPr/>
        </p:nvSpPr>
        <p:spPr>
          <a:xfrm>
            <a:off x="3790950" y="222885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 / Jupiter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C27FDCE7-26AD-4CE5-8E31-850F73468528}"/>
              </a:ext>
            </a:extLst>
          </p:cNvPr>
          <p:cNvSpPr>
            <a:spLocks noGrp="1"/>
          </p:cNvSpPr>
          <p:nvPr/>
        </p:nvSpPr>
        <p:spPr>
          <a:xfrm>
            <a:off x="7800975" y="222885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F9541D-B227-4D9C-806C-717EAC42138F}"/>
              </a:ext>
            </a:extLst>
          </p:cNvPr>
          <p:cNvSpPr>
            <a:spLocks noGrp="1"/>
          </p:cNvSpPr>
          <p:nvPr/>
        </p:nvSpPr>
        <p:spPr>
          <a:xfrm>
            <a:off x="514350" y="32670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1C5C718-AFCE-42A6-98CB-97D1648D9470}"/>
              </a:ext>
            </a:extLst>
          </p:cNvPr>
          <p:cNvSpPr>
            <a:spLocks noGrp="1"/>
          </p:cNvSpPr>
          <p:nvPr/>
        </p:nvSpPr>
        <p:spPr>
          <a:xfrm>
            <a:off x="647700" y="2809875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Marcar um teste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FED48B3-7BDC-4C01-832D-82AB417BC3F6}"/>
              </a:ext>
            </a:extLst>
          </p:cNvPr>
          <p:cNvSpPr>
            <a:spLocks noGrp="1"/>
          </p:cNvSpPr>
          <p:nvPr/>
        </p:nvSpPr>
        <p:spPr>
          <a:xfrm>
            <a:off x="3790950" y="28098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@Test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84904B94-36A3-4549-A5E4-B049B34A15A0}"/>
              </a:ext>
            </a:extLst>
          </p:cNvPr>
          <p:cNvSpPr>
            <a:spLocks noGrp="1"/>
          </p:cNvSpPr>
          <p:nvPr/>
        </p:nvSpPr>
        <p:spPr>
          <a:xfrm>
            <a:off x="7800975" y="28098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@Test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E58D3C4-A052-4B87-AE17-4323E1D63BE6}"/>
              </a:ext>
            </a:extLst>
          </p:cNvPr>
          <p:cNvSpPr>
            <a:spLocks noGrp="1"/>
          </p:cNvSpPr>
          <p:nvPr/>
        </p:nvSpPr>
        <p:spPr>
          <a:xfrm>
            <a:off x="514350" y="389572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3E9D5A7-A627-445F-A96F-EB478E7234B6}"/>
              </a:ext>
            </a:extLst>
          </p:cNvPr>
          <p:cNvSpPr>
            <a:spLocks noGrp="1"/>
          </p:cNvSpPr>
          <p:nvPr/>
        </p:nvSpPr>
        <p:spPr>
          <a:xfrm>
            <a:off x="647700" y="3438525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Antes de cada método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A4F8A6D6-AF38-4FE1-AC68-1D34831A0DB1}"/>
              </a:ext>
            </a:extLst>
          </p:cNvPr>
          <p:cNvSpPr>
            <a:spLocks noGrp="1"/>
          </p:cNvSpPr>
          <p:nvPr/>
        </p:nvSpPr>
        <p:spPr>
          <a:xfrm>
            <a:off x="3790950" y="343852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@BeforeEach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73EA1B-63D9-46A6-B646-529880CF8ACD}"/>
              </a:ext>
            </a:extLst>
          </p:cNvPr>
          <p:cNvSpPr>
            <a:spLocks noGrp="1"/>
          </p:cNvSpPr>
          <p:nvPr/>
        </p:nvSpPr>
        <p:spPr>
          <a:xfrm>
            <a:off x="7800975" y="343852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@BeforeMethod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2259562-E130-4548-B2AB-630BA6E841DD}"/>
              </a:ext>
            </a:extLst>
          </p:cNvPr>
          <p:cNvSpPr>
            <a:spLocks noGrp="1"/>
          </p:cNvSpPr>
          <p:nvPr/>
        </p:nvSpPr>
        <p:spPr>
          <a:xfrm>
            <a:off x="514350" y="45243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CA863022-94C2-4514-BA9E-95BC5C41740E}"/>
              </a:ext>
            </a:extLst>
          </p:cNvPr>
          <p:cNvSpPr>
            <a:spLocks noGrp="1"/>
          </p:cNvSpPr>
          <p:nvPr/>
        </p:nvSpPr>
        <p:spPr>
          <a:xfrm>
            <a:off x="647700" y="4067175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Depois de cada método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ACDFE689-C81D-4A0B-92EF-E65ABFC3A40C}"/>
              </a:ext>
            </a:extLst>
          </p:cNvPr>
          <p:cNvSpPr>
            <a:spLocks noGrp="1"/>
          </p:cNvSpPr>
          <p:nvPr/>
        </p:nvSpPr>
        <p:spPr>
          <a:xfrm>
            <a:off x="3790950" y="40671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@AfterEach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0374C04D-D321-4D38-ACCA-268865E8F056}"/>
              </a:ext>
            </a:extLst>
          </p:cNvPr>
          <p:cNvSpPr>
            <a:spLocks noGrp="1"/>
          </p:cNvSpPr>
          <p:nvPr/>
        </p:nvSpPr>
        <p:spPr>
          <a:xfrm>
            <a:off x="7800975" y="40671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@AfterMethod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1E09465-A99C-44E2-AF62-1FC79D608B64}"/>
              </a:ext>
            </a:extLst>
          </p:cNvPr>
          <p:cNvSpPr>
            <a:spLocks noGrp="1"/>
          </p:cNvSpPr>
          <p:nvPr/>
        </p:nvSpPr>
        <p:spPr>
          <a:xfrm>
            <a:off x="514350" y="515302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24A567E7-1A91-4EAF-B459-FC93C728D8F1}"/>
              </a:ext>
            </a:extLst>
          </p:cNvPr>
          <p:cNvSpPr>
            <a:spLocks noGrp="1"/>
          </p:cNvSpPr>
          <p:nvPr/>
        </p:nvSpPr>
        <p:spPr>
          <a:xfrm>
            <a:off x="647700" y="4695825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Comparar valores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FA4A88E-3131-471E-9337-0556A2D5CAE0}"/>
              </a:ext>
            </a:extLst>
          </p:cNvPr>
          <p:cNvSpPr>
            <a:spLocks noGrp="1"/>
          </p:cNvSpPr>
          <p:nvPr/>
        </p:nvSpPr>
        <p:spPr>
          <a:xfrm>
            <a:off x="3790950" y="469582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assertEquals(esperado, atual)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59B1A74-E840-4F05-89E1-6540EEBB6DDA}"/>
              </a:ext>
            </a:extLst>
          </p:cNvPr>
          <p:cNvSpPr>
            <a:spLocks noGrp="1"/>
          </p:cNvSpPr>
          <p:nvPr/>
        </p:nvSpPr>
        <p:spPr>
          <a:xfrm>
            <a:off x="7800975" y="469582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assertEquals(atual, esperado)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6145EE6-FBB5-454F-A6D2-7F48999F4BBD}"/>
              </a:ext>
            </a:extLst>
          </p:cNvPr>
          <p:cNvSpPr>
            <a:spLocks noGrp="1"/>
          </p:cNvSpPr>
          <p:nvPr/>
        </p:nvSpPr>
        <p:spPr>
          <a:xfrm>
            <a:off x="514350" y="57816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3F30E05-337C-47D4-BEBE-726D27C82317}"/>
              </a:ext>
            </a:extLst>
          </p:cNvPr>
          <p:cNvSpPr>
            <a:spLocks noGrp="1"/>
          </p:cNvSpPr>
          <p:nvPr/>
        </p:nvSpPr>
        <p:spPr>
          <a:xfrm>
            <a:off x="647700" y="5324475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Repetir com dados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986596DB-C751-4AA3-8B34-41C82BD05D70}"/>
              </a:ext>
            </a:extLst>
          </p:cNvPr>
          <p:cNvSpPr>
            <a:spLocks noGrp="1"/>
          </p:cNvSpPr>
          <p:nvPr/>
        </p:nvSpPr>
        <p:spPr>
          <a:xfrm>
            <a:off x="3790950" y="53244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@ParameterizedTest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176FCCBE-C0D7-4F02-B808-83F79BF49886}"/>
              </a:ext>
            </a:extLst>
          </p:cNvPr>
          <p:cNvSpPr>
            <a:spLocks noGrp="1"/>
          </p:cNvSpPr>
          <p:nvPr/>
        </p:nvSpPr>
        <p:spPr>
          <a:xfrm>
            <a:off x="7800975" y="53244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@Test(dataProvider = "...")</a:t>
            </a:r>
          </a:p>
        </p:txBody>
      </p:sp>
    </p:spTree>
    <p:extLst>
      <p:ext uri="{BB962C8B-B14F-4D97-AF65-F5344CB8AC3E}">
        <p14:creationId xmlns:p14="http://schemas.microsoft.com/office/powerpoint/2010/main" val="190874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BE34830B-C133-4A66-9ACE-6C98D9F43FE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96F6538-C428-4CAE-9837-4A9AF3FA4908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5: quatro entradas, um teste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A950BA-3B0E-448B-8D88-17E83197C9E6}"/>
              </a:ext>
            </a:extLst>
          </p:cNvPr>
          <p:cNvSpPr>
            <a:spLocks noGrp="1"/>
          </p:cNvSpPr>
          <p:nvPr/>
        </p:nvSpPr>
        <p:spPr>
          <a:xfrm>
            <a:off x="514350" y="2209800"/>
            <a:ext cx="11163300" cy="24955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4A054F1-30DF-4EB4-8DE1-B90D90816E1C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@ParameterizedTest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1AC9002-4DAC-494C-9BC1-93E1B598C25C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@CsvSource({"0,20", "199,20", "200,0", "350,0"})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02630CE-E528-4742-927C-FA48B1C40E00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void calculaFrete(int compra, int esperado) {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66B33A7B-AB7F-48C0-82D7-579ED1046514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int atual = new Frete().calcular(compra);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B960A73-C03C-4A82-8E4E-BEEABB29B66E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assertEquals(esperado, atual);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364C1A9-9C01-4E2E-B41C-439E5AFF6B09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8211CD0A-0EC2-4CCD-9017-B7C1DF5E5A7B}"/>
              </a:ext>
            </a:extLst>
          </p:cNvPr>
          <p:cNvSpPr>
            <a:spLocks noGrp="1"/>
          </p:cNvSpPr>
          <p:nvPr/>
        </p:nvSpPr>
        <p:spPr>
          <a:xfrm>
            <a:off x="514350" y="5133975"/>
            <a:ext cx="11163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Cada linha de dados gera uma execução independente do método.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C183696B-6698-4764-A19F-2D1B0F94A3A3}"/>
              </a:ext>
            </a:extLst>
          </p:cNvPr>
          <p:cNvSpPr>
            <a:spLocks noGrp="1"/>
          </p:cNvSpPr>
          <p:nvPr/>
        </p:nvSpPr>
        <p:spPr>
          <a:xfrm>
            <a:off x="514350" y="5715000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Bom encaixe para tabelas pequenas. Para objetos, há também @MethodSource.</a:t>
            </a:r>
          </a:p>
        </p:txBody>
      </p:sp>
    </p:spTree>
    <p:extLst>
      <p:ext uri="{BB962C8B-B14F-4D97-AF65-F5344CB8AC3E}">
        <p14:creationId xmlns:p14="http://schemas.microsoft.com/office/powerpoint/2010/main" val="628885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0">
            <a:extLst>
              <a:ext uri="{FF2B5EF4-FFF2-40B4-BE49-F238E27FC236}">
                <a16:creationId xmlns:a16="http://schemas.microsoft.com/office/drawing/2014/main" id="{F678226E-D0AA-4359-A22A-2B379159CCE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2E941BB-9FA6-4B38-9EC3-0640F4AD6455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TestNG: os dados vêm de um método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8DFF44-9B1A-4F4A-889B-72BB23A4F0A9}"/>
              </a:ext>
            </a:extLst>
          </p:cNvPr>
          <p:cNvSpPr>
            <a:spLocks noGrp="1"/>
          </p:cNvSpPr>
          <p:nvPr/>
        </p:nvSpPr>
        <p:spPr>
          <a:xfrm>
            <a:off x="514350" y="1933575"/>
            <a:ext cx="11163300" cy="34480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4AB7D7A-2280-4455-AF25-1EF436BC8EF7}"/>
              </a:ext>
            </a:extLst>
          </p:cNvPr>
          <p:cNvSpPr>
            <a:spLocks noGrp="1"/>
          </p:cNvSpPr>
          <p:nvPr/>
        </p:nvSpPr>
        <p:spPr>
          <a:xfrm>
            <a:off x="723900" y="21240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@DataProvider(name = "compras")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58A25F1-E733-4B50-900C-B48E4B3404AE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public Object[][] compras() {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A87FA50-DEDE-4E9A-B9C2-4CF8607F4817}"/>
              </a:ext>
            </a:extLst>
          </p:cNvPr>
          <p:cNvSpPr>
            <a:spLocks noGrp="1"/>
          </p:cNvSpPr>
          <p:nvPr/>
        </p:nvSpPr>
        <p:spPr>
          <a:xfrm>
            <a:off x="723900" y="27146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return new Object[][] {{0,20}, {199,20}, {200,0}, {350,0}};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7511F37-6AFA-4E22-AF14-2C3686CBAD82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10E99046-3D07-4BAF-850D-6735045D04C5}"/>
              </a:ext>
            </a:extLst>
          </p:cNvPr>
          <p:cNvSpPr>
            <a:spLocks noGrp="1"/>
          </p:cNvSpPr>
          <p:nvPr/>
        </p:nvSpPr>
        <p:spPr>
          <a:xfrm>
            <a:off x="723900" y="33051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C565AB2-D9A4-4D40-AEC8-37E53DB6996F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@Test(dataProvider = "compras")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A9E4A51-D9F5-407D-9803-DB50EBD049AA}"/>
              </a:ext>
            </a:extLst>
          </p:cNvPr>
          <p:cNvSpPr>
            <a:spLocks noGrp="1"/>
          </p:cNvSpPr>
          <p:nvPr/>
        </p:nvSpPr>
        <p:spPr>
          <a:xfrm>
            <a:off x="723900" y="389572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public void calculaFrete(int compra, int esperado) {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F638DDF-0AA1-4DAF-B292-5488AA985AA1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int atual = new Frete().calcular(compra);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7D4156AA-E798-42E4-982D-57ED0F3D8BA9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assertEquals(atual, esperado);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5ADE0D9-5C77-453B-BC8C-3048644FAFF6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80A702E8-5F24-4037-9A12-3B074E7F598E}"/>
              </a:ext>
            </a:extLst>
          </p:cNvPr>
          <p:cNvSpPr>
            <a:spLocks noGrp="1"/>
          </p:cNvSpPr>
          <p:nvPr/>
        </p:nvSpPr>
        <p:spPr>
          <a:xfrm>
            <a:off x="514350" y="5724525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Mais código neste exemplo; o provedor pode ser reutilizado e gerar objetos.</a:t>
            </a:r>
          </a:p>
        </p:txBody>
      </p:sp>
    </p:spTree>
    <p:extLst>
      <p:ext uri="{BB962C8B-B14F-4D97-AF65-F5344CB8AC3E}">
        <p14:creationId xmlns:p14="http://schemas.microsoft.com/office/powerpoint/2010/main" val="83808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0">
            <a:extLst>
              <a:ext uri="{FF2B5EF4-FFF2-40B4-BE49-F238E27FC236}">
                <a16:creationId xmlns:a16="http://schemas.microsoft.com/office/drawing/2014/main" id="{5B565895-88ED-402E-A734-18617D7C471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FB2A480-C752-4257-BE5F-09FF0E47949B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A saída confirma os quatro casos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861B149D-2E92-41DD-88BB-9EAFEA0F55BF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 · Console Launcher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B94E20C-FC8A-4430-9C9F-FB04D5EDE5C9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TestNG · resumo da suíte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433789D-08EA-49D1-B59D-ED8978137371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[4 tests found]</a:t>
            </a:r>
          </a:p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[4 tests started]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6A06137-AF19-45D3-9977-066A07DA2916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[4 tests successful]</a:t>
            </a:r>
          </a:p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[0 tests failed]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854F4695-C7FF-4980-A879-3C046A51D33A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Total tests run: 4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05C4D0D-FDF4-4337-93E1-ABAA811292E9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Passes: 4</a:t>
            </a:r>
          </a:p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Failures: 0</a:t>
            </a:r>
          </a:p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Skips: 0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A8D9555-24E3-4501-AF89-568D1B2FC420}"/>
              </a:ext>
            </a:extLst>
          </p:cNvPr>
          <p:cNvSpPr>
            <a:spLocks noGrp="1"/>
          </p:cNvSpPr>
          <p:nvPr/>
        </p:nvSpPr>
        <p:spPr>
          <a:xfrm>
            <a:off x="514350" y="5876925"/>
            <a:ext cx="11163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Saídas esperadas, resumidas. O formato varia conforme a IDE ou o executor.</a:t>
            </a:r>
          </a:p>
        </p:txBody>
      </p:sp>
    </p:spTree>
    <p:extLst>
      <p:ext uri="{BB962C8B-B14F-4D97-AF65-F5344CB8AC3E}">
        <p14:creationId xmlns:p14="http://schemas.microsoft.com/office/powerpoint/2010/main" val="62250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2A73867E-C977-49CF-BFB2-EF9718748B1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406D59A-FB17-42D0-BE55-EECED78CBD1E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Um caractere errado, um teste reprovado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26C2EE-39B6-4586-A4FC-3B9609487C22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111633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Defeito introduzido: trocar  &gt;=  por  &gt;  na regra de frete.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C7945A4-14FB-4D39-81CA-F384DC1ACF38}"/>
              </a:ext>
            </a:extLst>
          </p:cNvPr>
          <p:cNvSpPr>
            <a:spLocks noGrp="1"/>
          </p:cNvSpPr>
          <p:nvPr/>
        </p:nvSpPr>
        <p:spPr>
          <a:xfrm>
            <a:off x="514350" y="2466975"/>
            <a:ext cx="11163300" cy="76200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F4AEE95D-79D6-4F3C-96FF-0B81BF114CA8}"/>
              </a:ext>
            </a:extLst>
          </p:cNvPr>
          <p:cNvSpPr>
            <a:spLocks noGrp="1"/>
          </p:cNvSpPr>
          <p:nvPr/>
        </p:nvSpPr>
        <p:spPr>
          <a:xfrm>
            <a:off x="723900" y="2657475"/>
            <a:ext cx="10744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return valorCompra &gt; 200 ? 0 : 20;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D3563C4-98EC-4300-8CFA-60CCB1B4F944}"/>
              </a:ext>
            </a:extLst>
          </p:cNvPr>
          <p:cNvSpPr>
            <a:spLocks noGrp="1"/>
          </p:cNvSpPr>
          <p:nvPr/>
        </p:nvSpPr>
        <p:spPr>
          <a:xfrm>
            <a:off x="514350" y="3762375"/>
            <a:ext cx="5295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6427D763-74D9-4A0F-95D0-52601F59E3D6}"/>
              </a:ext>
            </a:extLst>
          </p:cNvPr>
          <p:cNvSpPr>
            <a:spLocks noGrp="1"/>
          </p:cNvSpPr>
          <p:nvPr/>
        </p:nvSpPr>
        <p:spPr>
          <a:xfrm>
            <a:off x="514350" y="4400550"/>
            <a:ext cx="52959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expected: &lt;0&gt; but was: &lt;20&gt;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7F2EA0E1-F5EA-4590-B8EE-3F7B17FB93B9}"/>
              </a:ext>
            </a:extLst>
          </p:cNvPr>
          <p:cNvSpPr>
            <a:spLocks noGrp="1"/>
          </p:cNvSpPr>
          <p:nvPr/>
        </p:nvSpPr>
        <p:spPr>
          <a:xfrm>
            <a:off x="6381750" y="3762375"/>
            <a:ext cx="5295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3E91646-985D-4F13-A565-CD5F1C21DEC5}"/>
              </a:ext>
            </a:extLst>
          </p:cNvPr>
          <p:cNvSpPr>
            <a:spLocks noGrp="1"/>
          </p:cNvSpPr>
          <p:nvPr/>
        </p:nvSpPr>
        <p:spPr>
          <a:xfrm>
            <a:off x="6381750" y="4400550"/>
            <a:ext cx="52959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expected [0] but found [20]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8E5567FA-7B06-46A5-9E33-BBD7036E95C5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111633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Compra de R$ 200: esperado R$ 0, obtido R$ 20. Resultado: 3 passam e 1 falha.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E9F04A20-B7CB-4A8D-80D4-927C186C3D4F}"/>
              </a:ext>
            </a:extLst>
          </p:cNvPr>
          <p:cNvSpPr>
            <a:spLocks noGrp="1"/>
          </p:cNvSpPr>
          <p:nvPr/>
        </p:nvSpPr>
        <p:spPr>
          <a:xfrm>
            <a:off x="514350" y="5972175"/>
            <a:ext cx="11163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Mensagens esperadas, resumidas para comparação.</a:t>
            </a:r>
          </a:p>
        </p:txBody>
      </p:sp>
    </p:spTree>
    <p:extLst>
      <p:ext uri="{BB962C8B-B14F-4D97-AF65-F5344CB8AC3E}">
        <p14:creationId xmlns:p14="http://schemas.microsoft.com/office/powerpoint/2010/main" val="183187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7E8328F2-4F50-4C30-89EC-03589D08BBE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063EC43-F39A-4B38-82EA-C6C8F3347A45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Entrada inválida também precisa de teste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0F3393D-4F89-43BA-BC3B-E1865EAE319C}"/>
              </a:ext>
            </a:extLst>
          </p:cNvPr>
          <p:cNvSpPr>
            <a:spLocks noGrp="1"/>
          </p:cNvSpPr>
          <p:nvPr/>
        </p:nvSpPr>
        <p:spPr>
          <a:xfrm>
            <a:off x="514350" y="1990725"/>
            <a:ext cx="52959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C92CBAB-A398-42A4-B307-089AA0E79DBF}"/>
              </a:ext>
            </a:extLst>
          </p:cNvPr>
          <p:cNvSpPr>
            <a:spLocks noGrp="1"/>
          </p:cNvSpPr>
          <p:nvPr/>
        </p:nvSpPr>
        <p:spPr>
          <a:xfrm>
            <a:off x="6381750" y="1990725"/>
            <a:ext cx="52959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0D81A41-B53D-4E81-B30D-66AFC3CE6341}"/>
              </a:ext>
            </a:extLst>
          </p:cNvPr>
          <p:cNvSpPr>
            <a:spLocks noGrp="1"/>
          </p:cNvSpPr>
          <p:nvPr/>
        </p:nvSpPr>
        <p:spPr>
          <a:xfrm>
            <a:off x="476250" y="2495550"/>
            <a:ext cx="5372100" cy="25717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B0FF2BD-F829-491E-89BA-6BC9B6300D42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@Test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3D83681-6F44-41DA-BD4C-E040E5210038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void rejeitaNegativo() {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70428AA-015C-4034-8AD8-F95F0292EEC9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assertThrows(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7D7EBB3-F26E-41FD-8FEA-C5E44BD1B228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IllegalArgumentException.class,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E56C8B0A-D1D7-4E0F-B16B-89D143F9813D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() -&gt; new Frete().calcular(-1)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C02747A-435D-4F96-87B9-ED927C6DA1FB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);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D7495630-9754-4916-80F8-E69244C19755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BDE6DE3-B00A-4DE8-B75C-37CB7CE00BDE}"/>
              </a:ext>
            </a:extLst>
          </p:cNvPr>
          <p:cNvSpPr>
            <a:spLocks noGrp="1"/>
          </p:cNvSpPr>
          <p:nvPr/>
        </p:nvSpPr>
        <p:spPr>
          <a:xfrm>
            <a:off x="6343650" y="2495550"/>
            <a:ext cx="5372100" cy="257175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DE8962A-9ECD-47DF-9228-9CB84C0CE606}"/>
              </a:ext>
            </a:extLst>
          </p:cNvPr>
          <p:cNvSpPr>
            <a:spLocks noGrp="1"/>
          </p:cNvSpPr>
          <p:nvPr/>
        </p:nvSpPr>
        <p:spPr>
          <a:xfrm>
            <a:off x="6553200" y="268605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@Test(expectedExceptions =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D82C7BC9-0EEB-438A-A023-C1FF5A787700}"/>
              </a:ext>
            </a:extLst>
          </p:cNvPr>
          <p:cNvSpPr>
            <a:spLocks noGrp="1"/>
          </p:cNvSpPr>
          <p:nvPr/>
        </p:nvSpPr>
        <p:spPr>
          <a:xfrm>
            <a:off x="6553200" y="29813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  IllegalArgumentException.class)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C6559B8-A17F-4C10-8B66-A088AB8E7CBB}"/>
              </a:ext>
            </a:extLst>
          </p:cNvPr>
          <p:cNvSpPr>
            <a:spLocks noGrp="1"/>
          </p:cNvSpPr>
          <p:nvPr/>
        </p:nvSpPr>
        <p:spPr>
          <a:xfrm>
            <a:off x="6553200" y="327660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public void rejeitaNegativo() {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493307F9-E4C3-4D8B-B9E6-FD516DA398A1}"/>
              </a:ext>
            </a:extLst>
          </p:cNvPr>
          <p:cNvSpPr>
            <a:spLocks noGrp="1"/>
          </p:cNvSpPr>
          <p:nvPr/>
        </p:nvSpPr>
        <p:spPr>
          <a:xfrm>
            <a:off x="6553200" y="357187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  new Frete().calcular(-1);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FD39F3B-6BBD-402D-8CB5-708BBA56C335}"/>
              </a:ext>
            </a:extLst>
          </p:cNvPr>
          <p:cNvSpPr>
            <a:spLocks noGrp="1"/>
          </p:cNvSpPr>
          <p:nvPr/>
        </p:nvSpPr>
        <p:spPr>
          <a:xfrm>
            <a:off x="6553200" y="386715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191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191C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F6C1B22E-2A29-4E99-914C-7FD36D01840C}"/>
              </a:ext>
            </a:extLst>
          </p:cNvPr>
          <p:cNvSpPr>
            <a:spLocks noGrp="1"/>
          </p:cNvSpPr>
          <p:nvPr/>
        </p:nvSpPr>
        <p:spPr>
          <a:xfrm>
            <a:off x="514350" y="5629275"/>
            <a:ext cx="111633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A exceção prevista faz o teste passar. Se ela não ocorrer, o teste falha.</a:t>
            </a:r>
          </a:p>
        </p:txBody>
      </p:sp>
    </p:spTree>
    <p:extLst>
      <p:ext uri="{BB962C8B-B14F-4D97-AF65-F5344CB8AC3E}">
        <p14:creationId xmlns:p14="http://schemas.microsoft.com/office/powerpoint/2010/main" val="420914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4221E4A7-D61C-404C-BE91-987F5C96D1D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71B61F7-1349-4D2E-9DB2-121A0D29CCE4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5: pontos fortes e limitações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9C44687-1BC4-43B6-8577-14A8E56B0C4F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Pontos positivos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8D49523-AC10-4411-B336-4CFE5CBE27FC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Pontos negativos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DE0E057-BFEE-4A1D-9059-ADA6322BF0DE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@CsvSource deixa pequenos conjuntos de casos perto do teste.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839E16B-03B2-468F-98E3-16EF226C94A6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@Nested organiza cenários; extensões permitem integrar recursos.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E0C3FF1A-A72E-46CC-A1E9-1E94B8DFA67C}"/>
              </a:ext>
            </a:extLst>
          </p:cNvPr>
          <p:cNvSpPr>
            <a:spLocks noGrp="1"/>
          </p:cNvSpPr>
          <p:nvPr/>
        </p:nvSpPr>
        <p:spPr>
          <a:xfrm>
            <a:off x="5143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Suporte em IDEs, Maven e Gradle.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CF598456-733F-49DD-9ED6-FB4614DA407D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Platform, engines e módulos exigem atenção na configuração.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8D4635C-54D0-41E8-B000-4EED19EEE3A2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Não há equivalente direto a dependsOnMethods do TestNG.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FECE749-8BBF-4498-8B28-54C6B0BCC22F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Migrar de JUnit 4 pode exigir ajustes em imports, regras e extensões.</a:t>
            </a:r>
          </a:p>
        </p:txBody>
      </p:sp>
    </p:spTree>
    <p:extLst>
      <p:ext uri="{BB962C8B-B14F-4D97-AF65-F5344CB8AC3E}">
        <p14:creationId xmlns:p14="http://schemas.microsoft.com/office/powerpoint/2010/main" val="202743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43A55E5F-E19D-45E1-8692-EF98C6CB108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BA7F87B-B890-4DAF-9C5E-F6FA3DF10963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TestNG: pontos fortes e limitações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E96DB0E-880B-454A-B650-94A445BAFF90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Pontos positivos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E372DB5-DF3E-4DA7-A9C7-8E709D3977F0}"/>
              </a:ext>
            </a:extLst>
          </p:cNvPr>
          <p:cNvSpPr>
            <a:spLocks noGrp="1"/>
          </p:cNvSpPr>
          <p:nvPr/>
        </p:nvSpPr>
        <p:spPr>
          <a:xfrm>
            <a:off x="6381750" y="215265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Pontos negativos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C7AB014-BA3E-41B0-A64D-E215D0CEE4A4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@DataProvider facilita compartilhar conjuntos de dados.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C7FD0BD-CC91-40DA-9D3E-80ED3BA8ECCB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Grupos, suítes e dependências oferecem controle da execução.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C0C2F6E-EEF2-4EC0-98E2-6A79741BBED6}"/>
              </a:ext>
            </a:extLst>
          </p:cNvPr>
          <p:cNvSpPr>
            <a:spLocks noGrp="1"/>
          </p:cNvSpPr>
          <p:nvPr/>
        </p:nvSpPr>
        <p:spPr>
          <a:xfrm>
            <a:off x="5143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Paralelismo configurável e relatórios HTML do executor.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1680C6F-148D-4EEC-BBD3-3D8E42DDF248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Object[][] pode esconder erros de tipos até a execução.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8D1EAED-57C4-4B2F-9EA5-D20266828BA6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XML, grupos e dependências ampliam a configuração da suíte.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15DA90D9-04F2-4365-827E-DD836971C02B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519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Dependências podem gerar testes ignorados quando outro falha.</a:t>
            </a:r>
          </a:p>
        </p:txBody>
      </p:sp>
    </p:spTree>
    <p:extLst>
      <p:ext uri="{BB962C8B-B14F-4D97-AF65-F5344CB8AC3E}">
        <p14:creationId xmlns:p14="http://schemas.microsoft.com/office/powerpoint/2010/main" val="171194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D4AA8776-2BA6-4512-9D01-8CB2A0E1C0A7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EA2CE99-E811-42F4-A1BB-593689C72049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A escolha depende da suíte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94A3A6-0A3A-4BEA-B523-4FD5BDEC7BD1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11163300" cy="533400"/>
          </a:xfrm>
          <a:prstGeom prst="rect">
            <a:avLst/>
          </a:prstGeom>
          <a:solidFill>
            <a:srgbClr val="F1F3F5"/>
          </a:solidFill>
          <a:ln w="0">
            <a:noFill/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B7D8DFF0-929E-4416-BDB6-93DC24C2790A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Necessidade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4935688-97FF-49D8-9FCA-394142D018C0}"/>
              </a:ext>
            </a:extLst>
          </p:cNvPr>
          <p:cNvSpPr>
            <a:spLocks noGrp="1"/>
          </p:cNvSpPr>
          <p:nvPr/>
        </p:nvSpPr>
        <p:spPr>
          <a:xfrm>
            <a:off x="3790950" y="22098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JUnit 5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D8F3C60-E540-4AF1-AEFA-68CC47753C3B}"/>
              </a:ext>
            </a:extLst>
          </p:cNvPr>
          <p:cNvSpPr>
            <a:spLocks noGrp="1"/>
          </p:cNvSpPr>
          <p:nvPr/>
        </p:nvSpPr>
        <p:spPr>
          <a:xfrm>
            <a:off x="7800975" y="2209800"/>
            <a:ext cx="37433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C3CEBD-9D5D-44F4-B917-043552A488E1}"/>
              </a:ext>
            </a:extLst>
          </p:cNvPr>
          <p:cNvSpPr>
            <a:spLocks noGrp="1"/>
          </p:cNvSpPr>
          <p:nvPr/>
        </p:nvSpPr>
        <p:spPr>
          <a:xfrm>
            <a:off x="514350" y="33813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523B895F-E3DC-4AAC-A5B8-E8D13FDAC777}"/>
              </a:ext>
            </a:extLst>
          </p:cNvPr>
          <p:cNvSpPr>
            <a:spLocks noGrp="1"/>
          </p:cNvSpPr>
          <p:nvPr/>
        </p:nvSpPr>
        <p:spPr>
          <a:xfrm>
            <a:off x="647700" y="27908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Dados variados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B550DF5-4EC5-433D-AF0A-B7B405CCC31D}"/>
              </a:ext>
            </a:extLst>
          </p:cNvPr>
          <p:cNvSpPr>
            <a:spLocks noGrp="1"/>
          </p:cNvSpPr>
          <p:nvPr/>
        </p:nvSpPr>
        <p:spPr>
          <a:xfrm>
            <a:off x="3790950" y="2790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@CsvSource / @MethodSource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3391385C-6A6D-4640-BB2B-FAE73E6F4B91}"/>
              </a:ext>
            </a:extLst>
          </p:cNvPr>
          <p:cNvSpPr>
            <a:spLocks noGrp="1"/>
          </p:cNvSpPr>
          <p:nvPr/>
        </p:nvSpPr>
        <p:spPr>
          <a:xfrm>
            <a:off x="7800975" y="2790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@DataProvider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41A0AB9-CF2F-4D45-B016-CA6F578C1CDC}"/>
              </a:ext>
            </a:extLst>
          </p:cNvPr>
          <p:cNvSpPr>
            <a:spLocks noGrp="1"/>
          </p:cNvSpPr>
          <p:nvPr/>
        </p:nvSpPr>
        <p:spPr>
          <a:xfrm>
            <a:off x="514350" y="41433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65CCFB2-6B00-4640-8431-10317E0F004A}"/>
              </a:ext>
            </a:extLst>
          </p:cNvPr>
          <p:cNvSpPr>
            <a:spLocks noGrp="1"/>
          </p:cNvSpPr>
          <p:nvPr/>
        </p:nvSpPr>
        <p:spPr>
          <a:xfrm>
            <a:off x="647700" y="35528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Seleção de testes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9EB938B-D5D6-499A-B028-4A73384357DB}"/>
              </a:ext>
            </a:extLst>
          </p:cNvPr>
          <p:cNvSpPr>
            <a:spLocks noGrp="1"/>
          </p:cNvSpPr>
          <p:nvPr/>
        </p:nvSpPr>
        <p:spPr>
          <a:xfrm>
            <a:off x="3790950" y="3552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Tags e suítes da Platform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C3A8CC7-8F2C-4FB6-B79F-A4EF968B77BB}"/>
              </a:ext>
            </a:extLst>
          </p:cNvPr>
          <p:cNvSpPr>
            <a:spLocks noGrp="1"/>
          </p:cNvSpPr>
          <p:nvPr/>
        </p:nvSpPr>
        <p:spPr>
          <a:xfrm>
            <a:off x="7800975" y="3552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Grupos e testng.xml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E92054F-D62F-420C-A5AB-041DCFB7AE85}"/>
              </a:ext>
            </a:extLst>
          </p:cNvPr>
          <p:cNvSpPr>
            <a:spLocks noGrp="1"/>
          </p:cNvSpPr>
          <p:nvPr/>
        </p:nvSpPr>
        <p:spPr>
          <a:xfrm>
            <a:off x="514350" y="49053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2DA672F-8E0F-4C84-BA02-053499452C56}"/>
              </a:ext>
            </a:extLst>
          </p:cNvPr>
          <p:cNvSpPr>
            <a:spLocks noGrp="1"/>
          </p:cNvSpPr>
          <p:nvPr/>
        </p:nvSpPr>
        <p:spPr>
          <a:xfrm>
            <a:off x="647700" y="43148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Execução paralela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688EE41-4129-43B3-8E82-035DCFF679EB}"/>
              </a:ext>
            </a:extLst>
          </p:cNvPr>
          <p:cNvSpPr>
            <a:spLocks noGrp="1"/>
          </p:cNvSpPr>
          <p:nvPr/>
        </p:nvSpPr>
        <p:spPr>
          <a:xfrm>
            <a:off x="3790950" y="4314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Sim, com configuração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B396ED5C-8016-403F-8176-ACEFC40DA16E}"/>
              </a:ext>
            </a:extLst>
          </p:cNvPr>
          <p:cNvSpPr>
            <a:spLocks noGrp="1"/>
          </p:cNvSpPr>
          <p:nvPr/>
        </p:nvSpPr>
        <p:spPr>
          <a:xfrm>
            <a:off x="7800975" y="4314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Sim, com configuração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B58AA2C-77AB-4262-B462-91C13D55C769}"/>
              </a:ext>
            </a:extLst>
          </p:cNvPr>
          <p:cNvSpPr>
            <a:spLocks noGrp="1"/>
          </p:cNvSpPr>
          <p:nvPr/>
        </p:nvSpPr>
        <p:spPr>
          <a:xfrm>
            <a:off x="514350" y="5667375"/>
            <a:ext cx="11163300" cy="9525"/>
          </a:xfrm>
          <a:prstGeom prst="rect">
            <a:avLst/>
          </a:prstGeom>
          <a:solidFill>
            <a:srgbClr val="CCD1D5"/>
          </a:solidFill>
          <a:ln w="0">
            <a:noFill/>
          </a:ln>
        </p:spPr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DA66D05F-3D0C-4407-9EA4-D462E6BF7FB2}"/>
              </a:ext>
            </a:extLst>
          </p:cNvPr>
          <p:cNvSpPr>
            <a:spLocks noGrp="1"/>
          </p:cNvSpPr>
          <p:nvPr/>
        </p:nvSpPr>
        <p:spPr>
          <a:xfrm>
            <a:off x="647700" y="5076825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Dependência entre testes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58A4E532-BC9D-479E-8BD1-A9D844BE3FB0}"/>
              </a:ext>
            </a:extLst>
          </p:cNvPr>
          <p:cNvSpPr>
            <a:spLocks noGrp="1"/>
          </p:cNvSpPr>
          <p:nvPr/>
        </p:nvSpPr>
        <p:spPr>
          <a:xfrm>
            <a:off x="3790950" y="5076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Sem API direta equivalente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F1FE5119-5DEE-4E92-ACCC-39500987DE41}"/>
              </a:ext>
            </a:extLst>
          </p:cNvPr>
          <p:cNvSpPr>
            <a:spLocks noGrp="1"/>
          </p:cNvSpPr>
          <p:nvPr/>
        </p:nvSpPr>
        <p:spPr>
          <a:xfrm>
            <a:off x="7800975" y="5076825"/>
            <a:ext cx="3743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dependsOnMethods</a:t>
            </a:r>
          </a:p>
          <a:p>
            <a:pPr>
              <a:defRPr sz="18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dependsOnGroups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D3B109D9-67A6-4E17-9352-53E07FEB9EDE}"/>
              </a:ext>
            </a:extLst>
          </p:cNvPr>
          <p:cNvSpPr>
            <a:spLocks noGrp="1"/>
          </p:cNvSpPr>
          <p:nvPr/>
        </p:nvSpPr>
        <p:spPr>
          <a:xfrm>
            <a:off x="514350" y="5915025"/>
            <a:ext cx="11163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7A5"/>
                </a:solidFill>
                <a:latin typeface="Arial"/>
                <a:ea typeface="Arial"/>
                <a:cs typeface="Arial"/>
              </a:rPr>
              <a:t>Paralelismo só ajuda quando os testes não disputam estado compartilhado.</a:t>
            </a:r>
          </a:p>
        </p:txBody>
      </p:sp>
    </p:spTree>
    <p:extLst>
      <p:ext uri="{BB962C8B-B14F-4D97-AF65-F5344CB8AC3E}">
        <p14:creationId xmlns:p14="http://schemas.microsoft.com/office/powerpoint/2010/main" val="769963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63E54944-B9AA-492C-B694-2464C55143B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39C0379-45E8-4D0F-A326-0C2CF767C16C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Referências e recorte dos exemplos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167E32F-5481-4827-9876-CB8BC6CFC57D}"/>
              </a:ext>
            </a:extLst>
          </p:cNvPr>
          <p:cNvSpPr>
            <a:spLocks noGrp="1"/>
          </p:cNvSpPr>
          <p:nvPr/>
        </p:nvSpPr>
        <p:spPr>
          <a:xfrm>
            <a:off x="514350" y="2085975"/>
            <a:ext cx="11163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JUnit 5 · User Guide 5.13.4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AB01A1D8-371B-469F-9017-A26464B8E621}"/>
              </a:ext>
            </a:extLst>
          </p:cNvPr>
          <p:cNvSpPr>
            <a:spLocks noGrp="1"/>
          </p:cNvSpPr>
          <p:nvPr/>
        </p:nvSpPr>
        <p:spPr>
          <a:xfrm>
            <a:off x="514350" y="2619375"/>
            <a:ext cx="11163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docs.junit.org/5.13.4/user-guide/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FCD0EF89-004B-42A8-B9B5-353F2FF69911}"/>
              </a:ext>
            </a:extLst>
          </p:cNvPr>
          <p:cNvSpPr>
            <a:spLocks noGrp="1"/>
          </p:cNvSpPr>
          <p:nvPr/>
        </p:nvSpPr>
        <p:spPr>
          <a:xfrm>
            <a:off x="514350" y="3314700"/>
            <a:ext cx="111633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TestNG · documentação oficial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CF3B3C9-0C84-4A20-98B9-4BA56BA2FCF8}"/>
              </a:ext>
            </a:extLst>
          </p:cNvPr>
          <p:cNvSpPr>
            <a:spLocks noGrp="1"/>
          </p:cNvSpPr>
          <p:nvPr/>
        </p:nvSpPr>
        <p:spPr>
          <a:xfrm>
            <a:off x="514350" y="3848100"/>
            <a:ext cx="111633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testng.org  ·  testng.org/annotations.html  ·  testng.org/parameters.html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6359D401-7AEA-4028-B1E4-08E8C8B43B4D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11633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Exemplo de frete autoral. Saídas apresentadas como resultados esperados.</a:t>
            </a:r>
          </a:p>
          <a:p>
            <a:pPr>
              <a:defRPr sz="202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Consulta às fontes: 30/08/2026.</a:t>
            </a:r>
          </a:p>
        </p:txBody>
      </p:sp>
    </p:spTree>
    <p:extLst>
      <p:ext uri="{BB962C8B-B14F-4D97-AF65-F5344CB8AC3E}">
        <p14:creationId xmlns:p14="http://schemas.microsoft.com/office/powerpoint/2010/main" val="629587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59CB0E62-AC49-40FF-A0E1-C7BE9692219D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65C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5C63"/>
                </a:solidFill>
                <a:latin typeface="Arial"/>
                <a:ea typeface="Arial"/>
                <a:cs typeface="Arial"/>
              </a:rPr>
              <a:t>JAVA / TESTES UNITÁRIOS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458CBC4-8BFB-4FF4-BA16-4DEF4BDFC612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11633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Para esta regra, começaríamos com JUnit 5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3C002C-9508-4158-99AA-8ADDB4738849}"/>
              </a:ext>
            </a:extLst>
          </p:cNvPr>
          <p:cNvSpPr>
            <a:spLocks noGrp="1"/>
          </p:cNvSpPr>
          <p:nvPr/>
        </p:nvSpPr>
        <p:spPr>
          <a:xfrm>
            <a:off x="514350" y="2152650"/>
            <a:ext cx="11163300" cy="1276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O teste parametrizado fica curto</a:t>
            </a:r>
          </a:p>
          <a:p>
            <a:pPr>
              <a:defRPr sz="3600" b="1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C"/>
                </a:solidFill>
                <a:latin typeface="Arial"/>
                <a:ea typeface="Arial"/>
                <a:cs typeface="Arial"/>
              </a:rPr>
              <a:t>e mostra a regra com clareza.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9047298-52CD-419A-8034-0D9D0C324499}"/>
              </a:ext>
            </a:extLst>
          </p:cNvPr>
          <p:cNvSpPr>
            <a:spLocks noGrp="1"/>
          </p:cNvSpPr>
          <p:nvPr/>
        </p:nvSpPr>
        <p:spPr>
          <a:xfrm>
            <a:off x="514350" y="4010025"/>
            <a:ext cx="111633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TestNG passa a ser atraente quando grupos, provedores reutilizáveis</a:t>
            </a:r>
          </a:p>
          <a:p>
            <a:pPr>
              <a:defRPr sz="2400" b="0">
                <a:solidFill>
                  <a:srgbClr val="1719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91C"/>
                </a:solidFill>
                <a:latin typeface="Arial"/>
                <a:ea typeface="Arial"/>
                <a:cs typeface="Arial"/>
              </a:rPr>
              <a:t>e controle de suítes têm mais peso no projeto.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D31AD92-198C-4D4E-9D15-8BFE7A6E4D07}"/>
              </a:ext>
            </a:extLst>
          </p:cNvPr>
          <p:cNvSpPr>
            <a:spLocks noGrp="1"/>
          </p:cNvSpPr>
          <p:nvPr/>
        </p:nvSpPr>
        <p:spPr>
          <a:xfrm>
            <a:off x="514350" y="5505450"/>
            <a:ext cx="111633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76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7A5"/>
                </a:solidFill>
                <a:latin typeface="Arial"/>
                <a:ea typeface="Arial"/>
                <a:cs typeface="Arial"/>
              </a:rPr>
              <a:t>Nos dois casos, o acerto foi testar R$ 200 — exatamente no limite.</a:t>
            </a:r>
          </a:p>
        </p:txBody>
      </p:sp>
    </p:spTree>
    <p:extLst>
      <p:ext uri="{BB962C8B-B14F-4D97-AF65-F5344CB8AC3E}">
        <p14:creationId xmlns:p14="http://schemas.microsoft.com/office/powerpoint/2010/main" val="1091622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2059244" y="2742754"/>
            <a:ext cx="11049000" cy="385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4000" b="0" i="0" u="none" dirty="0" err="1">
                <a:solidFill>
                  <a:srgbClr val="475569"/>
                </a:solidFill>
                <a:latin typeface="Inter"/>
              </a:rPr>
              <a:t>Obrigado</a:t>
            </a:r>
            <a:r>
              <a:rPr sz="4000" b="0" i="0" u="none" dirty="0">
                <a:solidFill>
                  <a:srgbClr val="475569"/>
                </a:solidFill>
                <a:latin typeface="Inter"/>
              </a:rPr>
              <a:t> pela </a:t>
            </a:r>
            <a:r>
              <a:rPr sz="4000" b="0" i="0" u="none" dirty="0" err="1">
                <a:solidFill>
                  <a:srgbClr val="475569"/>
                </a:solidFill>
                <a:latin typeface="Inter"/>
              </a:rPr>
              <a:t>atenção</a:t>
            </a:r>
            <a:r>
              <a:rPr sz="4000" b="0" i="0" u="none" dirty="0">
                <a:solidFill>
                  <a:srgbClr val="475569"/>
                </a:solidFill>
                <a:latin typeface="Inter"/>
              </a:rPr>
              <a:t>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92" y="3970512"/>
            <a:ext cx="142875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42" y="3970512"/>
            <a:ext cx="1047750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3985121"/>
            <a:ext cx="1085850" cy="352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640" y="4077146"/>
            <a:ext cx="1047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5990" y="4052948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6094" y="4075286"/>
            <a:ext cx="142875" cy="142875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BA99C30-743F-147C-9A93-4C3316C93B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5983" y="0"/>
            <a:ext cx="59055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1455</Words>
  <Application>Microsoft Office PowerPoint</Application>
  <DocSecurity>0</DocSecurity>
  <PresentationFormat>Widescreen</PresentationFormat>
  <Paragraphs>242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Inter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Gabriel Souza</cp:lastModifiedBy>
  <cp:revision>10</cp:revision>
  <dcterms:created xsi:type="dcterms:W3CDTF">2026-08-30T22:40:54Z</dcterms:created>
  <dcterms:modified xsi:type="dcterms:W3CDTF">2026-09-04T20:26:25Z</dcterms:modified>
</cp:coreProperties>
</file>